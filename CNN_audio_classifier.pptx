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bhaya Libre" charset="1" panose="02000503000000000000"/>
      <p:regular r:id="rId19"/>
    </p:embeddedFont>
    <p:embeddedFont>
      <p:font typeface="Canva Sans Bold" charset="1" panose="020B0803030501040103"/>
      <p:regular r:id="rId20"/>
    </p:embeddedFont>
    <p:embeddedFont>
      <p:font typeface="Abhaya Libre Bold" charset="1" panose="02000803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4239083" y="0"/>
            <a:ext cx="1833935" cy="1698682"/>
          </a:xfrm>
          <a:custGeom>
            <a:avLst/>
            <a:gdLst/>
            <a:ahLst/>
            <a:cxnLst/>
            <a:rect r="r" b="b" t="t" l="l"/>
            <a:pathLst>
              <a:path h="1698682" w="1833935">
                <a:moveTo>
                  <a:pt x="0" y="0"/>
                </a:moveTo>
                <a:lnTo>
                  <a:pt x="1833935" y="0"/>
                </a:lnTo>
                <a:lnTo>
                  <a:pt x="1833935" y="1698682"/>
                </a:lnTo>
                <a:lnTo>
                  <a:pt x="0" y="1698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44690" y="2910095"/>
            <a:ext cx="10022317" cy="141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34"/>
              </a:lnSpc>
            </a:pPr>
            <a:r>
              <a:rPr lang="en-US" sz="1075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DSP-PROJECT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39083" y="4235145"/>
            <a:ext cx="13767334" cy="170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4"/>
              </a:lnSpc>
            </a:pPr>
            <a:r>
              <a:rPr lang="en-US" sz="490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CNN Based Audio Classification Using Mel-Spectrogram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01/13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6106" y="7206237"/>
            <a:ext cx="8451894" cy="184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3"/>
              </a:lnSpc>
            </a:pPr>
            <a:r>
              <a:rPr lang="en-US" sz="3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Students      :    Chaitanya Ponnana  </a:t>
            </a:r>
          </a:p>
          <a:p>
            <a:pPr algn="l">
              <a:lnSpc>
                <a:spcPts val="4943"/>
              </a:lnSpc>
            </a:pPr>
            <a:r>
              <a:rPr lang="en-US" sz="3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Rahul Adithya P     </a:t>
            </a:r>
          </a:p>
          <a:p>
            <a:pPr algn="l" marL="0" indent="0" lvl="0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Surya Gurajapu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02/13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Overview of Our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487" y="2234352"/>
            <a:ext cx="17736271" cy="590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8553" indent="-404277" lvl="1">
              <a:lnSpc>
                <a:spcPts val="5243"/>
              </a:lnSpc>
              <a:buFont typeface="Arial"/>
              <a:buChar char="•"/>
            </a:pP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Raw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audio signals are high-dimensional, vary in length, and are hard for models to learn directly, so the goal is to convert each audio clip into a compact and informative time-frequency representation and then classify it into one of the selected sound classes using a CNN.</a:t>
            </a:r>
          </a:p>
          <a:p>
            <a:pPr algn="l" marL="808553" indent="-404277" lvl="1">
              <a:lnSpc>
                <a:spcPts val="5243"/>
              </a:lnSpc>
              <a:buFont typeface="Arial"/>
              <a:buChar char="•"/>
            </a:pP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MFCC-style processing is a common method used to convert speech or audio into useful features.</a:t>
            </a:r>
          </a:p>
          <a:p>
            <a:pPr algn="l" marL="808553" indent="-404277" lvl="1">
              <a:lnSpc>
                <a:spcPts val="5243"/>
              </a:lnSpc>
              <a:buFont typeface="Arial"/>
              <a:buChar char="•"/>
            </a:pP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This process includes pre-emphasis, framing, windowing, FFT, 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Me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f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 bank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s,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g compression,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DCT,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and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norm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aliza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io</a:t>
            </a:r>
            <a:r>
              <a:rPr lang="en-US" sz="374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n.</a:t>
            </a:r>
          </a:p>
          <a:p>
            <a:pPr algn="l">
              <a:lnSpc>
                <a:spcPts val="524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03/13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PIPELINE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69040" y="1397704"/>
            <a:ext cx="17547164" cy="7962026"/>
          </a:xfrm>
          <a:custGeom>
            <a:avLst/>
            <a:gdLst/>
            <a:ahLst/>
            <a:cxnLst/>
            <a:rect r="r" b="b" t="t" l="l"/>
            <a:pathLst>
              <a:path h="7962026" w="17547164">
                <a:moveTo>
                  <a:pt x="0" y="0"/>
                </a:moveTo>
                <a:lnTo>
                  <a:pt x="17547164" y="0"/>
                </a:lnTo>
                <a:lnTo>
                  <a:pt x="17547164" y="7962026"/>
                </a:lnTo>
                <a:lnTo>
                  <a:pt x="0" y="796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04/13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Data Input and Audio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1272" y="2670175"/>
            <a:ext cx="8706208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Load dataset from CSV (train.csv)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Select top 5 classes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Limit to ≤ 100 samples per class (balancing)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17375" y="2515542"/>
            <a:ext cx="8370625" cy="370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</a:t>
            </a: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Load audio using librosa.</a:t>
            </a: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Resample to 16 kHz.</a:t>
            </a:r>
          </a:p>
          <a:p>
            <a:pPr algn="l" marL="1511291" indent="-503764" lvl="2">
              <a:lnSpc>
                <a:spcPts val="4899"/>
              </a:lnSpc>
              <a:buFont typeface="Arial"/>
              <a:buChar char="⚬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Fix duration to one second and  Pad if short.</a:t>
            </a:r>
          </a:p>
          <a:p>
            <a:pPr algn="l" marL="1511291" indent="-503764" lvl="2">
              <a:lnSpc>
                <a:spcPts val="4899"/>
              </a:lnSpc>
              <a:buFont typeface="Arial"/>
              <a:buChar char="⚬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Trim if long.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E9E0D9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  ,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798108" y="4487322"/>
            <a:ext cx="8689027" cy="4848979"/>
          </a:xfrm>
          <a:custGeom>
            <a:avLst/>
            <a:gdLst/>
            <a:ahLst/>
            <a:cxnLst/>
            <a:rect r="r" b="b" t="t" l="l"/>
            <a:pathLst>
              <a:path h="4848979" w="8689027">
                <a:moveTo>
                  <a:pt x="0" y="0"/>
                </a:moveTo>
                <a:lnTo>
                  <a:pt x="8689028" y="0"/>
                </a:lnTo>
                <a:lnTo>
                  <a:pt x="8689028" y="4848979"/>
                </a:lnTo>
                <a:lnTo>
                  <a:pt x="0" y="4848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19" t="-39251" r="-14119" b="-810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05/13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4208" y="1210549"/>
            <a:ext cx="17803792" cy="327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8155" indent="-404077" lvl="1">
              <a:lnSpc>
                <a:spcPts val="5240"/>
              </a:lnSpc>
              <a:buFont typeface="Arial"/>
              <a:buChar char="•"/>
            </a:pPr>
            <a:r>
              <a:rPr lang="en-US" b="true" sz="374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</a:t>
            </a:r>
            <a:r>
              <a:rPr lang="en-US" b="true" sz="374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e-emphasis: Boosts high-frequency components to balance spectral energy distribution.</a:t>
            </a:r>
          </a:p>
          <a:p>
            <a:pPr algn="l" marL="808155" indent="-404077" lvl="1">
              <a:lnSpc>
                <a:spcPts val="5240"/>
              </a:lnSpc>
              <a:buFont typeface="Arial"/>
              <a:buChar char="•"/>
            </a:pPr>
            <a:r>
              <a:rPr lang="en-US" b="true" sz="374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Framing: Segments signal into short-time frames assuming local stationarity.</a:t>
            </a:r>
          </a:p>
          <a:p>
            <a:pPr algn="l" marL="808155" indent="-404077" lvl="1">
              <a:lnSpc>
                <a:spcPts val="5240"/>
              </a:lnSpc>
              <a:buFont typeface="Arial"/>
              <a:buChar char="•"/>
            </a:pPr>
            <a:r>
              <a:rPr lang="en-US" b="true" sz="374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Windowing (Hamming): Reduces spectral leakage by smoothing frame edges.</a:t>
            </a:r>
          </a:p>
          <a:p>
            <a:pPr algn="l" marL="808155" indent="-404077" lvl="1">
              <a:lnSpc>
                <a:spcPts val="5240"/>
              </a:lnSpc>
              <a:buFont typeface="Arial"/>
              <a:buChar char="•"/>
            </a:pPr>
            <a:r>
              <a:rPr lang="en-US" b="true" sz="374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FFT: Transforms time-domain frames into frequency-domain representation.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MFCC Extraction Details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E9E0D9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  ,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74880" y="2377067"/>
            <a:ext cx="11301259" cy="5532866"/>
          </a:xfrm>
          <a:custGeom>
            <a:avLst/>
            <a:gdLst/>
            <a:ahLst/>
            <a:cxnLst/>
            <a:rect r="r" b="b" t="t" l="l"/>
            <a:pathLst>
              <a:path h="5532866" w="11301259">
                <a:moveTo>
                  <a:pt x="0" y="0"/>
                </a:moveTo>
                <a:lnTo>
                  <a:pt x="11301259" y="0"/>
                </a:lnTo>
                <a:lnTo>
                  <a:pt x="11301259" y="5532866"/>
                </a:lnTo>
                <a:lnTo>
                  <a:pt x="0" y="5532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1" t="0" r="-22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6873" y="3626743"/>
            <a:ext cx="2966203" cy="970757"/>
          </a:xfrm>
          <a:custGeom>
            <a:avLst/>
            <a:gdLst/>
            <a:ahLst/>
            <a:cxnLst/>
            <a:rect r="r" b="b" t="t" l="l"/>
            <a:pathLst>
              <a:path h="970757" w="2966203">
                <a:moveTo>
                  <a:pt x="0" y="0"/>
                </a:moveTo>
                <a:lnTo>
                  <a:pt x="2966203" y="0"/>
                </a:lnTo>
                <a:lnTo>
                  <a:pt x="2966203" y="970757"/>
                </a:lnTo>
                <a:lnTo>
                  <a:pt x="0" y="970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0560" y="7732582"/>
            <a:ext cx="4003087" cy="952576"/>
          </a:xfrm>
          <a:custGeom>
            <a:avLst/>
            <a:gdLst/>
            <a:ahLst/>
            <a:cxnLst/>
            <a:rect r="r" b="b" t="t" l="l"/>
            <a:pathLst>
              <a:path h="952576" w="4003087">
                <a:moveTo>
                  <a:pt x="0" y="0"/>
                </a:moveTo>
                <a:lnTo>
                  <a:pt x="4003087" y="0"/>
                </a:lnTo>
                <a:lnTo>
                  <a:pt x="4003087" y="952576"/>
                </a:lnTo>
                <a:lnTo>
                  <a:pt x="0" y="952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06/13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501" y="1638864"/>
            <a:ext cx="6189411" cy="627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209" indent="-347105" lvl="1">
              <a:lnSpc>
                <a:spcPts val="4501"/>
              </a:lnSpc>
              <a:buFont typeface="Arial"/>
              <a:buChar char="•"/>
            </a:pPr>
            <a:r>
              <a:rPr lang="en-US" b="true" sz="3215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Power Spectrum: Computes energy distribution across frequency bins.</a:t>
            </a:r>
          </a:p>
          <a:p>
            <a:pPr algn="l">
              <a:lnSpc>
                <a:spcPts val="4501"/>
              </a:lnSpc>
            </a:pPr>
            <a:r>
              <a:rPr lang="en-US" b="true" sz="3215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</a:t>
            </a:r>
          </a:p>
          <a:p>
            <a:pPr algn="l">
              <a:lnSpc>
                <a:spcPts val="4501"/>
              </a:lnSpc>
            </a:pPr>
          </a:p>
          <a:p>
            <a:pPr algn="l">
              <a:lnSpc>
                <a:spcPts val="4501"/>
              </a:lnSpc>
            </a:pPr>
          </a:p>
          <a:p>
            <a:pPr algn="l" marL="694209" indent="-347105" lvl="1">
              <a:lnSpc>
                <a:spcPts val="4501"/>
              </a:lnSpc>
              <a:buFont typeface="Arial"/>
              <a:buChar char="•"/>
            </a:pPr>
            <a:r>
              <a:rPr lang="en-US" b="true" sz="3215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Mel Filter Bank: Maps frequencies onto the perceptual Mel scale, emphasizing human hearing.</a:t>
            </a:r>
          </a:p>
          <a:p>
            <a:pPr algn="l">
              <a:lnSpc>
                <a:spcPts val="450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MFCC Extraction Details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5297" y="8705142"/>
            <a:ext cx="13215342" cy="56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b="true" sz="321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  single n</a:t>
            </a:r>
            <a:r>
              <a:rPr lang="en-US" b="true" sz="321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umber representing the total energy in that Mel frequency band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E9E0D9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  ,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9849" y="4650885"/>
            <a:ext cx="3987101" cy="985230"/>
          </a:xfrm>
          <a:custGeom>
            <a:avLst/>
            <a:gdLst/>
            <a:ahLst/>
            <a:cxnLst/>
            <a:rect r="r" b="b" t="t" l="l"/>
            <a:pathLst>
              <a:path h="985230" w="3987101">
                <a:moveTo>
                  <a:pt x="0" y="0"/>
                </a:moveTo>
                <a:lnTo>
                  <a:pt x="3987102" y="0"/>
                </a:lnTo>
                <a:lnTo>
                  <a:pt x="3987102" y="985230"/>
                </a:lnTo>
                <a:lnTo>
                  <a:pt x="0" y="98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7604" y="7681333"/>
            <a:ext cx="6344955" cy="1206265"/>
          </a:xfrm>
          <a:custGeom>
            <a:avLst/>
            <a:gdLst/>
            <a:ahLst/>
            <a:cxnLst/>
            <a:rect r="r" b="b" t="t" l="l"/>
            <a:pathLst>
              <a:path h="1206265" w="6344955">
                <a:moveTo>
                  <a:pt x="0" y="0"/>
                </a:moveTo>
                <a:lnTo>
                  <a:pt x="6344955" y="0"/>
                </a:lnTo>
                <a:lnTo>
                  <a:pt x="6344955" y="1206265"/>
                </a:lnTo>
                <a:lnTo>
                  <a:pt x="0" y="120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87673" y="1770623"/>
            <a:ext cx="8725455" cy="7216187"/>
          </a:xfrm>
          <a:custGeom>
            <a:avLst/>
            <a:gdLst/>
            <a:ahLst/>
            <a:cxnLst/>
            <a:rect r="r" b="b" t="t" l="l"/>
            <a:pathLst>
              <a:path h="7216187" w="8725455">
                <a:moveTo>
                  <a:pt x="0" y="0"/>
                </a:moveTo>
                <a:lnTo>
                  <a:pt x="8725455" y="0"/>
                </a:lnTo>
                <a:lnTo>
                  <a:pt x="8725455" y="7216187"/>
                </a:lnTo>
                <a:lnTo>
                  <a:pt x="0" y="7216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07/13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775" y="1542422"/>
            <a:ext cx="6325249" cy="581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</a:p>
          <a:p>
            <a:pPr algn="l" marL="709445" indent="-354722" lvl="1">
              <a:lnSpc>
                <a:spcPts val="4600"/>
              </a:lnSpc>
              <a:buFont typeface="Arial"/>
              <a:buChar char="•"/>
            </a:pPr>
            <a:r>
              <a:rPr lang="en-US" b="true" sz="3285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Log Compression: Reduces dynamic range and approximates human loudness perception.</a:t>
            </a:r>
          </a:p>
          <a:p>
            <a:pPr algn="l">
              <a:lnSpc>
                <a:spcPts val="4600"/>
              </a:lnSpc>
            </a:pPr>
          </a:p>
          <a:p>
            <a:pPr algn="l">
              <a:lnSpc>
                <a:spcPts val="4600"/>
              </a:lnSpc>
            </a:pPr>
          </a:p>
          <a:p>
            <a:pPr algn="l" marL="709445" indent="-354722" lvl="1">
              <a:lnSpc>
                <a:spcPts val="4600"/>
              </a:lnSpc>
              <a:buFont typeface="Arial"/>
              <a:buChar char="•"/>
            </a:pPr>
            <a:r>
              <a:rPr lang="en-US" b="true" sz="3285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DCT: Decorrelates filter bank outputs to produce compact MFCC features.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MFCC Extraction Details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E9E0D9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  ,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808425" y="2215263"/>
            <a:ext cx="8479575" cy="5856474"/>
          </a:xfrm>
          <a:custGeom>
            <a:avLst/>
            <a:gdLst/>
            <a:ahLst/>
            <a:cxnLst/>
            <a:rect r="r" b="b" t="t" l="l"/>
            <a:pathLst>
              <a:path h="5856474" w="8479575">
                <a:moveTo>
                  <a:pt x="0" y="0"/>
                </a:moveTo>
                <a:lnTo>
                  <a:pt x="8479575" y="0"/>
                </a:lnTo>
                <a:lnTo>
                  <a:pt x="8479575" y="5856474"/>
                </a:lnTo>
                <a:lnTo>
                  <a:pt x="0" y="585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08/13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378" y="1445127"/>
            <a:ext cx="9452561" cy="779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662" indent="-366331" lvl="1">
              <a:lnSpc>
                <a:spcPts val="4750"/>
              </a:lnSpc>
              <a:buFont typeface="Arial"/>
              <a:buChar char="•"/>
            </a:pPr>
            <a:r>
              <a:rPr lang="en-US" b="true" sz="339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MFCC Representation: Encodes spectral envelope in low-dimensional form, often visualized as a 3D time–frequency–intensity representation.</a:t>
            </a:r>
          </a:p>
          <a:p>
            <a:pPr algn="l" marL="732662" indent="-366331" lvl="1">
              <a:lnSpc>
                <a:spcPts val="4750"/>
              </a:lnSpc>
              <a:buFont typeface="Arial"/>
              <a:buChar char="•"/>
            </a:pPr>
            <a:r>
              <a:rPr lang="en-US" b="true" sz="339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Intensity: Represents the log-scaled energy (magnitude) of the signal in each Mel-frequency band at a given time frame.</a:t>
            </a:r>
          </a:p>
          <a:p>
            <a:pPr algn="l" marL="732662" indent="-366331" lvl="1">
              <a:lnSpc>
                <a:spcPts val="4750"/>
              </a:lnSpc>
              <a:buFont typeface="Arial"/>
              <a:buChar char="•"/>
            </a:pPr>
            <a:r>
              <a:rPr lang="en-US" b="true" sz="339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Frame Limiting: Standardizes temporal dimension (fixed number of frames).</a:t>
            </a:r>
          </a:p>
          <a:p>
            <a:pPr algn="l" marL="732662" indent="-366331" lvl="1">
              <a:lnSpc>
                <a:spcPts val="4750"/>
              </a:lnSpc>
              <a:buFont typeface="Arial"/>
              <a:buChar char="•"/>
            </a:pPr>
            <a:r>
              <a:rPr lang="en-US" b="true" sz="339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Normalization: Centers features to stabilize learning and reduce bias.</a:t>
            </a:r>
          </a:p>
          <a:p>
            <a:pPr algn="l" marL="732662" indent="-366331" lvl="1">
              <a:lnSpc>
                <a:spcPts val="4750"/>
              </a:lnSpc>
              <a:buFont typeface="Arial"/>
              <a:buChar char="•"/>
            </a:pPr>
            <a:r>
              <a:rPr lang="en-US" b="true" sz="3393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Final Output: Structured time-frequency feature map ready for CNN input.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MFCC Extraction Details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78" y="-101328"/>
            <a:ext cx="17607164" cy="9562487"/>
          </a:xfrm>
          <a:custGeom>
            <a:avLst/>
            <a:gdLst/>
            <a:ahLst/>
            <a:cxnLst/>
            <a:rect r="r" b="b" t="t" l="l"/>
            <a:pathLst>
              <a:path h="9562487" w="17607164">
                <a:moveTo>
                  <a:pt x="0" y="0"/>
                </a:moveTo>
                <a:lnTo>
                  <a:pt x="17607164" y="0"/>
                </a:lnTo>
                <a:lnTo>
                  <a:pt x="17607164" y="9562487"/>
                </a:lnTo>
                <a:lnTo>
                  <a:pt x="0" y="956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37" r="0" b="-113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E9E0D9"/>
                  </a:solidFill>
                  <a:latin typeface="Abhaya Libre"/>
                  <a:ea typeface="Abhaya Libre"/>
                  <a:cs typeface="Abhaya Libre"/>
                  <a:sym typeface="Abhaya Libre"/>
                </a:rPr>
                <a:t>  ,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09/13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1084" y="192842"/>
            <a:ext cx="554224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  <a:spcBef>
                <a:spcPct val="0"/>
              </a:spcBef>
            </a:pPr>
            <a:r>
              <a:rPr lang="en-US" b="true" sz="465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MFCC</a:t>
            </a:r>
            <a:r>
              <a:rPr lang="en-US" b="true" sz="465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→ CNN Pipeline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10/13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CNN Model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477010"/>
            <a:ext cx="12727881" cy="742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Convolution Blocks (×3):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Stacked Conv2D → BatchNorm → MaxPooling layers progressively extract hierarchical patterns from MFCC maps — from low-level spectral edges to high-level acoustic features.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Feature Compression: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Flatten + Dropout converts 2D feature maps into a compact vector while reducing overfitting and improving generalization.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Classification Head: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Dense(128) → Softmax learns nonlinear decision boundaries and outputs class probabilities.</a:t>
            </a:r>
          </a:p>
          <a:p>
            <a:pPr algn="just">
              <a:lnSpc>
                <a:spcPts val="49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729722" y="5034915"/>
            <a:ext cx="8285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Abhaya Libre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11/13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Training Setup and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378" y="2944812"/>
            <a:ext cx="8193267" cy="432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</a:t>
            </a: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oss function: sparse_categorical_crossentropy</a:t>
            </a:r>
          </a:p>
          <a:p>
            <a:pPr algn="l" marL="755646" indent="-377823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Optimizer: Adam</a:t>
            </a:r>
          </a:p>
          <a:p>
            <a:pPr algn="l" marL="755646" indent="-377823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Metric: accuracy</a:t>
            </a:r>
          </a:p>
          <a:p>
            <a:pPr algn="l" marL="755646" indent="-377823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Train-test split: 80% / 20%</a:t>
            </a:r>
          </a:p>
          <a:p>
            <a:pPr algn="l" marL="755646" indent="-377823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Stratified split to preserve class balance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191889" y="2273099"/>
            <a:ext cx="9902945" cy="6211235"/>
          </a:xfrm>
          <a:custGeom>
            <a:avLst/>
            <a:gdLst/>
            <a:ahLst/>
            <a:cxnLst/>
            <a:rect r="r" b="b" t="t" l="l"/>
            <a:pathLst>
              <a:path h="6211235" w="9902945">
                <a:moveTo>
                  <a:pt x="0" y="0"/>
                </a:moveTo>
                <a:lnTo>
                  <a:pt x="9902944" y="0"/>
                </a:lnTo>
                <a:lnTo>
                  <a:pt x="9902944" y="6211235"/>
                </a:lnTo>
                <a:lnTo>
                  <a:pt x="0" y="621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551" y="2916683"/>
            <a:ext cx="16344749" cy="5863679"/>
          </a:xfrm>
          <a:custGeom>
            <a:avLst/>
            <a:gdLst/>
            <a:ahLst/>
            <a:cxnLst/>
            <a:rect r="r" b="b" t="t" l="l"/>
            <a:pathLst>
              <a:path h="5863679" w="16344749">
                <a:moveTo>
                  <a:pt x="0" y="0"/>
                </a:moveTo>
                <a:lnTo>
                  <a:pt x="16344749" y="0"/>
                </a:lnTo>
                <a:lnTo>
                  <a:pt x="16344749" y="5863678"/>
                </a:lnTo>
                <a:lnTo>
                  <a:pt x="0" y="5863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12/13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5873" y="1605408"/>
            <a:ext cx="1597700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CNN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8" y="0"/>
            <a:ext cx="18288000" cy="1296274"/>
            <a:chOff x="0" y="0"/>
            <a:chExt cx="4816593" cy="341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1406"/>
            </a:xfrm>
            <a:custGeom>
              <a:avLst/>
              <a:gdLst/>
              <a:ahLst/>
              <a:cxnLst/>
              <a:rect r="r" b="b" t="t" l="l"/>
              <a:pathLst>
                <a:path h="3414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1406"/>
                  </a:lnTo>
                  <a:lnTo>
                    <a:pt x="0" y="341406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8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8" y="9461159"/>
            <a:ext cx="18288000" cy="825841"/>
            <a:chOff x="0" y="0"/>
            <a:chExt cx="4816593" cy="217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7505"/>
            </a:xfrm>
            <a:custGeom>
              <a:avLst/>
              <a:gdLst/>
              <a:ahLst/>
              <a:cxnLst/>
              <a:rect r="r" b="b" t="t" l="l"/>
              <a:pathLst>
                <a:path h="2175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7505"/>
                  </a:lnTo>
                  <a:lnTo>
                    <a:pt x="0" y="217505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2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644509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IIT Bhubaneshwar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01" y="960882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13/13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6650" y="192602"/>
            <a:ext cx="10374700" cy="80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  <a:spcBef>
                <a:spcPct val="0"/>
              </a:spcBef>
            </a:pPr>
            <a:r>
              <a:rPr lang="en-US" b="true" sz="4646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Conclusion and reference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106" y="1321492"/>
            <a:ext cx="16491455" cy="432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Thi</a:t>
            </a:r>
            <a:r>
              <a:rPr lang="en-US" b="true" sz="34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 project combines classical DSP and deep learning in one pipeline. The DSP stage converts raw audio into structured MFCC features, and the CNN stage learns class-specific patterns from those features. That is why the presentation should be described as “DSP-based audio feature extraction followed by CNN-based deep learning classification.” MFCCs remain a widely used and practical front end for audio tasks, even though CNNs are the final classifier here.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6106" y="5339772"/>
            <a:ext cx="18289378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ref 1 : https://practicalcryptography.com/miscellaneous/machine-learning/guide-mel-frequency-cepstral-coefficients-mfccs/https://haythamfayek.com/2016/04/21/speech-processing-for-machine-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learning.htmlhttps://datagenetics.com/blog/november32012/index.html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6106" y="6957117"/>
            <a:ext cx="178897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ref2  : http://practicalcryptography.com/miscellaneous/machine-learning/guide-mel-frequency-cepstral-coefficients-mfccs/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6106" y="7621962"/>
            <a:ext cx="1307782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ref3  : https://haythamfayek.com/2016/04/21/speech-processing-for-machine-learning.html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106" y="8512986"/>
            <a:ext cx="913376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ref 4 : http://datagenetics.com/blog/november32012/index.html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DAHGSKDlQZ4</dc:identifier>
  <dcterms:modified xsi:type="dcterms:W3CDTF">2011-08-01T06:04:30Z</dcterms:modified>
  <cp:revision>1</cp:revision>
  <dc:title>Students : Rahul Adithya P Surya Gurajapu Chaitanya Ponana</dc:title>
</cp:coreProperties>
</file>